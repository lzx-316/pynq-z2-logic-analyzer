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FC7D0"/>
                </a:solidFill>
                <a:latin typeface="Microsoft YaHei"/>
                <a:ea typeface="Microsoft YaHei"/>
                <a:cs typeface="Microsoft YaHei"/>
              </a:rPr>
              <a:t>课程设计 / FPGA 创新设计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PYNQ-Z2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四通道逻辑分析仪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9E4E8"/>
                </a:solidFill>
                <a:latin typeface="Microsoft YaHei"/>
                <a:ea typeface="Microsoft YaHei"/>
                <a:cs typeface="Microsoft YaHei"/>
              </a:rPr>
              <a:t>1 MSa/s · 2048 点环形缓冲 · 三种边沿触发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FC7D0"/>
                </a:solidFill>
                <a:latin typeface="Microsoft YaHei"/>
                <a:ea typeface="Microsoft YaHei"/>
                <a:cs typeface="Microsoft YaHei"/>
              </a:rPr>
              <a:t>队长 ｜ 队友A ｜ 田若溪（队友B）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FA6B0"/>
                </a:solidFill>
                <a:latin typeface="Microsoft YaHei"/>
                <a:ea typeface="Microsoft YaHei"/>
                <a:cs typeface="Microsoft YaHei"/>
              </a:rPr>
              <a:t>2026-10-24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一页看懂作品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4 通道数字信号采集 + 环形缓冲 + 边沿触发 + Notebook 显示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2606040" cy="15087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54864" cy="15087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01368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通道数（CH0~CH3）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600200"/>
            <a:ext cx="2606040" cy="15087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600200"/>
            <a:ext cx="54864" cy="15087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801368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1 MSa/s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51460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采样率（50 MHz ÷ 50）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00200"/>
            <a:ext cx="2606040" cy="15087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600200"/>
            <a:ext cx="54864" cy="15087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801368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2048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51460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环形缓冲深度（点）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6840" y="1600200"/>
            <a:ext cx="2606040" cy="15087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06840" y="1600200"/>
            <a:ext cx="54864" cy="150876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801368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D98E04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51460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触发模式（上升/下降/任意边沿）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52044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6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PL 侧完成采样、同步、触发与缓冲，PS 侧用 Jupyter Notebook 完成配置与显示。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6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探针电平与 28 位时间戳打包为一个 32 位字写入 BRAM。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6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软件按 trigger_ptr 还原 513 点触发窗口。</a:t>
            </a:r>
          </a:p>
        </p:txBody>
      </p:sp>
      <p:pic>
        <p:nvPicPr>
          <p:cNvPr id="22" name="Picture 21" descr="TBD-010_waveform_4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59" y="3291840"/>
            <a:ext cx="5486400" cy="274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0" y="6053328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TBD-010 实测四通道波形（内部测试模式）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PYNQ-Z2 四通道逻辑分析仪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背景与需求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为什么要在 FPGA 上自己做一个逻辑分析仪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8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8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调试数字电路时，示波器难以同时观察多路信号的时序关系。</a:t>
            </a:r>
          </a:p>
          <a:p>
            <a:pPr>
              <a:spcAft>
                <a:spcPts val="1600"/>
              </a:spcAft>
            </a:pPr>
            <a:r>
              <a:rPr sz="18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8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商用逻辑分析仪价格高，而 FPGA 天然具备高速并行采样能力。</a:t>
            </a:r>
          </a:p>
          <a:p>
            <a:pPr>
              <a:spcAft>
                <a:spcPts val="1600"/>
              </a:spcAft>
            </a:pPr>
            <a:r>
              <a:rPr sz="18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8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目标：一台可演示、可复现的四通道逻辑分析仪。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554480"/>
            <a:ext cx="4754880" cy="40233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95160" y="178308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范围界定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2377440"/>
            <a:ext cx="42062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5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做：4 通道 × 1 MSa/s × 2048 点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5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做：上升沿 / 下降沿 / 任意边沿触发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5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做：内部测试模式 + Notebook 显示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5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不做：100 MHz 采样、DDR/DMA、HDMI、UART 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PYNQ-Z2 四通道逻辑分析仪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系统总体架构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PL 负责实时采集，PS 负责配置、回读与显示</a:t>
            </a:r>
          </a:p>
        </p:txBody>
      </p:sp>
      <p:pic>
        <p:nvPicPr>
          <p:cNvPr id="5" name="Picture 4" descr="fig2_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13" y="1417320"/>
            <a:ext cx="8352692" cy="43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地址映射：BRAM 0x40000000（8 KB）｜AXI GPIO0 0x41200000（控制）｜AXI GPIO1 0x41210000（状态）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PYNQ-Z2 四通道逻辑分析仪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采集通路：三个模块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从引脚到 BRAM，一条没有跨时钟域的直通路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3520440" cy="2148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737360"/>
            <a:ext cx="3520440" cy="82296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sync_4ch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两级同步 + 输出寄存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3 拍延迟，消除亚稳态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737360"/>
            <a:ext cx="3520440" cy="2148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1737360"/>
            <a:ext cx="3520440" cy="82296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0116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D98E04"/>
                </a:solidFill>
                <a:latin typeface="Microsoft YaHei"/>
                <a:ea typeface="Microsoft YaHei"/>
                <a:cs typeface="Microsoft YaHei"/>
              </a:rPr>
              <a:t>sample_divider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5176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50 MHz ÷ 50 = 1 MSa/s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输出单周期 sample_tick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1737360"/>
            <a:ext cx="3520440" cy="2148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75320" y="1737360"/>
            <a:ext cx="3520440" cy="8229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20116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capture_engine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65176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五状态机 + 环形缓冲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触发定位与 done 握手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43400"/>
            <a:ext cx="107899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6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sample_tick 是时钟使能而不是分频时钟，全设计只保留 sys_clk 一个时钟域。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6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每个样本打包为 {28 位时间戳, 4 位探针}，低 4 位可直接拆出 CH0~CH3。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PYNQ-Z2 四通道逻辑分析仪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环形缓冲与触发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触发点落在环中任意位置，靠 trigger_ptr 还原时间顺序</a:t>
            </a:r>
          </a:p>
        </p:txBody>
      </p:sp>
      <p:pic>
        <p:nvPicPr>
          <p:cNvPr id="5" name="Picture 4" descr="fig3_1_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97380"/>
            <a:ext cx="6675119" cy="33375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169164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5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2048 点环：写满回绕，始终保留最近数据。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5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trigger_ptr 记录触发时写指针位置。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5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软件：start = (trigger_ptr - 256) % 2048。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5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history_ok 保证预触发数据攒够才允许触发。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5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post_trigger = 0 时直接结束，不再补后触发。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PYNQ-Z2 四通道逻辑分析仪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Notebook v2：七步流程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每一步输出带编号的状态信息，便于演示与排错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1481328" cy="2194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920240"/>
            <a:ext cx="1261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2423160"/>
            <a:ext cx="1261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加载 Overlay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971800"/>
            <a:ext cx="1261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检查 bit/hwh 并加载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783080"/>
            <a:ext cx="1481328" cy="2194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04288" y="1920240"/>
            <a:ext cx="1261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04288" y="2423160"/>
            <a:ext cx="1261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配置参数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4288" y="2971800"/>
            <a:ext cx="1261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ctrl_idle = 0x81004000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22191" y="1783080"/>
            <a:ext cx="1481328" cy="2194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1920240"/>
            <a:ext cx="1261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23160"/>
            <a:ext cx="1261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单次采集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971800"/>
            <a:ext cx="1261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done=1 triggered=1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9824" y="1783080"/>
            <a:ext cx="1481328" cy="2194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1920240"/>
            <a:ext cx="1261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2423160"/>
            <a:ext cx="1261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读取还原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9552" y="2971800"/>
            <a:ext cx="1261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valid samples = 513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77456" y="1783080"/>
            <a:ext cx="1481328" cy="2194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87184" y="1920240"/>
            <a:ext cx="1261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87184" y="2423160"/>
            <a:ext cx="1261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绘制波形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87184" y="2971800"/>
            <a:ext cx="1261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waveform_4ch.png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05088" y="1783080"/>
            <a:ext cx="1481328" cy="2194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14815" y="1920240"/>
            <a:ext cx="1261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14815" y="2423160"/>
            <a:ext cx="1261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导出 CSV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14815" y="2971800"/>
            <a:ext cx="1261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513 行 × 6 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9" y="1783080"/>
            <a:ext cx="1481328" cy="21945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42447" y="1920240"/>
            <a:ext cx="1261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42447" y="2423160"/>
            <a:ext cx="1261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连续 10 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2447" y="2971800"/>
            <a:ext cx="1261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PASS 10/10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343400"/>
            <a:ext cx="10927080" cy="141732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5262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关键实现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93776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write_ctrl() 兼容 write(value) 与 write(value, mask) 两种 PYNQ 接口；按 trigger_ptr 做 np.roll 还原；CSV 列为 index, timestamp, ch0~ch3。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实测：连续 10 次采集全部 done=1、triggered=1，trigger_ptr 稳定在 256/257。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PYNQ-Z2 四通道逻辑分析仪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验证结果：时序、资源与 DRC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Vivado 2026.1 · xc7z020clg400-1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3520440" cy="141732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00200"/>
            <a:ext cx="54864" cy="141732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013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10.552 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最差建立余量 WNS（约束全部满足）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600200"/>
            <a:ext cx="3520440" cy="141732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600200"/>
            <a:ext cx="54864" cy="141732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013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D98E04"/>
                </a:solidFill>
                <a:latin typeface="Microsoft YaHei"/>
                <a:ea typeface="Microsoft YaHei"/>
                <a:cs typeface="Microsoft YaHei"/>
              </a:rPr>
              <a:t>0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DRC（20 条 REQP-1839 + 1 条 CHECK-3 告警）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600200"/>
            <a:ext cx="3520440" cy="141732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1600200"/>
            <a:ext cx="54864" cy="141732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8013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3.55%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51460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Slice LUT 占用（1891 / 53200）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337560"/>
            <a:ext cx="10835640" cy="4114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保持余量 WHS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34107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0.038 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794760"/>
            <a:ext cx="108356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8679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脉宽余量 WPWS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8679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9.020 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251960"/>
            <a:ext cx="10835640" cy="4114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251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Slice Registers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43251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2648（2.49%）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709160"/>
            <a:ext cx="108356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7823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Block RAM Tile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47823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2（1.43%）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5166360"/>
            <a:ext cx="10835640" cy="4114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395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DSP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52395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623560"/>
            <a:ext cx="108356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967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设计状态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0" y="56967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Fully Routed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PYNQ-Z2 四通道逻辑分析仪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板级证据：队友B 独立复跑（TBD-010）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main 的 bit/hwh · PYNQ-Z2 · TEST_MODE=1 · 2026-10-19</a:t>
            </a:r>
          </a:p>
        </p:txBody>
      </p:sp>
      <p:pic>
        <p:nvPicPr>
          <p:cNvPr id="5" name="Picture 4" descr="TBD-010_overlay_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50208"/>
            <a:ext cx="5486400" cy="6373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34290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Overlay 加载成功</a:t>
            </a:r>
          </a:p>
        </p:txBody>
      </p:sp>
      <p:pic>
        <p:nvPicPr>
          <p:cNvPr id="7" name="Picture 6" descr="TBD-010_repeat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2967" y="1554480"/>
            <a:ext cx="5076305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342900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连续 10 次采集 PASS 10/10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107899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6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Overlay 加载成功，IP 列表：axi_gpio_0、axi_gpio_1、processing_system7_0。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6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单次采集：done=1、triggered=1、trigger_ptr=256，valid samples=513。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600">
                <a:solidFill>
                  <a:srgbClr val="1B242C"/>
                </a:solidFill>
                <a:latin typeface="Microsoft YaHei"/>
                <a:ea typeface="Microsoft YaHei"/>
                <a:cs typeface="Microsoft YaHei"/>
              </a:rPr>
              <a:t>CSV 513 行 6 列；连续 10 次全部完成，无超时。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PYNQ-Z2 四通道逻辑分析仪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测试汇总：TBD-002 ~ TBD-018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仿真边界测试 + 板级验证 + 独立重建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10835640" cy="914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00200"/>
            <a:ext cx="64008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0992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TBD-002 ~ 009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70992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板级与重建 bit 验证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75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Overlay、波形、CSV、连续 10 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697480"/>
            <a:ext cx="10835640" cy="914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697480"/>
            <a:ext cx="64008" cy="9144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80720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D98E04"/>
                </a:solidFill>
                <a:latin typeface="Microsoft YaHei"/>
                <a:ea typeface="Microsoft YaHei"/>
                <a:cs typeface="Microsoft YaHei"/>
              </a:rPr>
              <a:t>TBD-010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80720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队友B 独立复跑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17296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main 的 bit/hwh，513 点，10/10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794760"/>
            <a:ext cx="10835640" cy="914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3794760"/>
            <a:ext cx="64008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90448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Microsoft YaHei"/>
                <a:ea typeface="Microsoft YaHei"/>
                <a:cs typeface="Microsoft YaHei"/>
              </a:rPr>
              <a:t>TBD-011 ~ 016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90448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六项仿真边界测试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2702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三种触发、预后触发、回绕、clear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892040"/>
            <a:ext cx="10835640" cy="914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4892040"/>
            <a:ext cx="64008" cy="9144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00176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TBD-017 ~ 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50017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发布候选与独立重建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5367527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smoke test、Tcl 重建一致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全部通过；证据位于 team/evidence/2026-10-19/。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PYNQ-Z2 四通道逻辑分析仪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局限与改进方向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范围冻结后的后续工作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10835640" cy="914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采样率固定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737360"/>
            <a:ext cx="7406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分频比做成寄存器，支持 1 / 2 / 5 MSa/s 多档。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97480"/>
            <a:ext cx="10835640" cy="914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深度受限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834640"/>
            <a:ext cx="7406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扩展多块 BRAM，或引入 DDR + DMA 支持长时采集。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94760"/>
            <a:ext cx="10835640" cy="914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9319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时间戳回绕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931920"/>
            <a:ext cx="7406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28 位在 1 MSa/s 下约 268 秒，可扩位或分段记录。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892040"/>
            <a:ext cx="10835640" cy="9144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0292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A44"/>
                </a:solidFill>
                <a:latin typeface="Microsoft YaHei"/>
                <a:ea typeface="Microsoft YaHei"/>
                <a:cs typeface="Microsoft YaHei"/>
              </a:rPr>
              <a:t>外部输入未验证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5029200"/>
            <a:ext cx="7406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Pmod 电气特性与输入保护留作后续测试。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PYNQ-Z2 四通道逻辑分析仪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672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可复现的交付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7FD1D9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700">
                <a:solidFill>
                  <a:srgbClr val="D7E6EA"/>
                </a:solidFill>
                <a:latin typeface="Microsoft YaHei"/>
                <a:ea typeface="Microsoft YaHei"/>
                <a:cs typeface="Microsoft YaHei"/>
              </a:rPr>
              <a:t>仓库：github.com/lzx-316/pynq-z2-logic-analyzer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7FD1D9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700">
                <a:solidFill>
                  <a:srgbClr val="D7E6EA"/>
                </a:solidFill>
                <a:latin typeface="Microsoft YaHei"/>
                <a:ea typeface="Microsoft YaHei"/>
                <a:cs typeface="Microsoft YaHei"/>
              </a:rPr>
              <a:t>bit 与 hwh 同名同目录，Notebook v2 七步跑完即可复现。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7FD1D9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700">
                <a:solidFill>
                  <a:srgbClr val="D7E6EA"/>
                </a:solidFill>
                <a:latin typeface="Microsoft YaHei"/>
                <a:ea typeface="Microsoft YaHei"/>
                <a:cs typeface="Microsoft YaHei"/>
              </a:rPr>
              <a:t>证据：team/evidence/2026-10-19/（TBD-002 ~ TBD-018）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7FD1D9"/>
                </a:solidFill>
                <a:latin typeface="Microsoft YaHei"/>
                <a:ea typeface="Microsoft YaHei"/>
                <a:cs typeface="Microsoft YaHei"/>
              </a:rPr>
              <a:t>▪ </a:t>
            </a:r>
            <a:r>
              <a:rPr sz="1700">
                <a:solidFill>
                  <a:srgbClr val="D7E6EA"/>
                </a:solidFill>
                <a:latin typeface="Microsoft YaHei"/>
                <a:ea typeface="Microsoft YaHei"/>
                <a:cs typeface="Microsoft YaHei"/>
              </a:rPr>
              <a:t>报告：docs/report.md；模块讲解：docs/module_explanations.md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9FC7D0"/>
                </a:solidFill>
                <a:latin typeface="Microsoft YaHei"/>
                <a:ea typeface="Microsoft YaHei"/>
                <a:cs typeface="Microsoft YaHei"/>
              </a:rPr>
              <a:t>谢谢 · 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