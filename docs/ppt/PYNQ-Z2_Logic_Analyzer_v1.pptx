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914400" y="123444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课程设计 / FPGA 创新设计</a:t>
            </a:r>
            <a:endParaRPr sz="1600" b="0">
              <a:solidFill>
                <a:srgbClr val="9FC7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14400" y="1783080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5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</a:t>
            </a:r>
            <a:endParaRPr sz="5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</a:pPr>
            <a:r>
              <a:rPr sz="5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四通道逻辑分析仪</a:t>
            </a:r>
            <a:endParaRPr sz="5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00" b="0">
                <a:solidFill>
                  <a:srgbClr val="C9E4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MSa/s · 2048 点环形缓冲 · 三种边沿触发</a:t>
            </a:r>
            <a:endParaRPr sz="2200" b="0">
              <a:solidFill>
                <a:srgbClr val="C9E4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14400" y="4572000"/>
            <a:ext cx="100584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队长 </a:t>
            </a:r>
            <a:r>
              <a:rPr lang="zh-CN"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李竺轩</a:t>
            </a:r>
            <a:r>
              <a:rPr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 队友A </a:t>
            </a:r>
            <a:r>
              <a:rPr lang="zh-CN"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丁语卉</a:t>
            </a:r>
            <a:r>
              <a:rPr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 </a:t>
            </a:r>
            <a:r>
              <a:rPr sz="160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队友B</a:t>
            </a:r>
            <a:r>
              <a:rPr lang="en-US" sz="160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6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田若溪</a:t>
            </a:r>
            <a:endParaRPr sz="1600" b="0">
              <a:solidFill>
                <a:srgbClr val="9FC7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7FA6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2026-10-24</a:t>
            </a:r>
            <a:endParaRPr sz="1300" b="0">
              <a:solidFill>
                <a:srgbClr val="7FA6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一页看懂作品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通道数字信号采集 + 环形缓冲 + 边沿触发 + Notebook 显示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40080" y="1600200"/>
            <a:ext cx="2606040" cy="1508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0080" y="1600200"/>
            <a:ext cx="54864" cy="1508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68680" y="180136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30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86868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通道数（CH0~CH3）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429000" y="1600200"/>
            <a:ext cx="2606040" cy="1508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429000" y="1600200"/>
            <a:ext cx="54864" cy="1508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657600" y="180136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MSa/s</a:t>
            </a:r>
            <a:endParaRPr sz="30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365760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采样率（50 MHz ÷ 50）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217920" y="1600200"/>
            <a:ext cx="2606040" cy="1508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217920" y="1600200"/>
            <a:ext cx="54864" cy="1508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446520" y="180136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2048</a:t>
            </a:r>
            <a:endParaRPr sz="30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44652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环形缓冲深度（点）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006840" y="1600200"/>
            <a:ext cx="2606040" cy="15087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9006840" y="1600200"/>
            <a:ext cx="54864" cy="1508760"/>
          </a:xfrm>
          <a:prstGeom prst="rect">
            <a:avLst/>
          </a:prstGeom>
          <a:solidFill>
            <a:srgbClr val="D98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9235440" y="1801368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D98E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3000" b="1">
              <a:solidFill>
                <a:srgbClr val="D98E0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9235440" y="251460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触发模式（上升/下降/任意边沿）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85800" y="352044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 侧完成采样、同步、触发与缓冲，PS 侧用 Jupyter Notebook 完成配置与显示。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探针电平与 28 位时间戳打包为一个 32 位字写入 BRAM。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软件按 trigger_ptr 还原 513 点触发窗口。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59" y="3291840"/>
            <a:ext cx="5486400" cy="2743200"/>
          </a:xfrm>
          <a:prstGeom prst="rect">
            <a:avLst/>
          </a:prstGeom>
        </p:spPr>
      </p:pic>
      <p:sp>
        <p:nvSpPr>
          <p:cNvPr id="23" name="TextBox 22"/>
          <p:cNvSpPr>
            <a:spLocks noGrp="1"/>
          </p:cNvSpPr>
          <p:nvPr/>
        </p:nvSpPr>
        <p:spPr>
          <a:xfrm>
            <a:off x="6035040" y="605332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TBD-010 实测四通道波形（内部测试模式）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背景与需求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为什么要在 FPGA 上自己做一个逻辑分析仪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31520" y="160020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buNone/>
            </a:pPr>
            <a:r>
              <a:rPr sz="18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8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调试数字电路时，示波器难以同时观察多路信号的时序关系。</a:t>
            </a:r>
            <a:endParaRPr sz="18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600"/>
              </a:spcAft>
              <a:buNone/>
            </a:pPr>
            <a:r>
              <a:rPr sz="18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8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商用逻辑分析仪价格高，而 FPGA 天然具备高速并行采样能力。</a:t>
            </a:r>
            <a:endParaRPr sz="18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600"/>
              </a:spcAft>
              <a:buNone/>
            </a:pPr>
            <a:r>
              <a:rPr sz="18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8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目标：一台可演示、可复现的四通道逻辑分析仪。</a:t>
            </a:r>
            <a:endParaRPr sz="18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675120" y="1554480"/>
            <a:ext cx="4754880" cy="40233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995160" y="17830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范围界定</a:t>
            </a:r>
            <a:endParaRPr sz="2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995160" y="2377440"/>
            <a:ext cx="42062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做：4 通道 × 1 MSa/s × 2048 点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做：上升沿 / 下降沿 / 任意边沿触发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做：内部测试模式 + Notebook 显示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不做：100 MHz 采样、DDR/DMA、HDMI、UART 解码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系统总体架构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 负责实时采集，PS 负责配置、回读与显示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413" y="1417320"/>
            <a:ext cx="8352692" cy="4343400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地址映射：BRAM 0x40000000（8 KB）｜AXI GPIO0 0x41200000（控制）｜AXI GPIO1 0x41210000（状态）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采集通路：三个模块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从引脚到 BRAM，一条没有跨时钟域的直通路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737360"/>
            <a:ext cx="3520440" cy="21488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1737360"/>
            <a:ext cx="3520440" cy="82296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60120" y="2011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sync_4ch</a:t>
            </a:r>
            <a:endParaRPr sz="22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960120" y="265176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两级同步 + 输出寄存</a:t>
            </a:r>
            <a:endParaRPr sz="15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拍延迟，消除亚稳态</a:t>
            </a:r>
            <a:endParaRPr sz="15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480560" y="1737360"/>
            <a:ext cx="3520440" cy="21488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480560" y="1737360"/>
            <a:ext cx="3520440" cy="82296"/>
          </a:xfrm>
          <a:prstGeom prst="rect">
            <a:avLst/>
          </a:prstGeom>
          <a:solidFill>
            <a:srgbClr val="D98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754880" y="2011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00" b="1">
                <a:solidFill>
                  <a:srgbClr val="D98E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sample_divider</a:t>
            </a:r>
            <a:endParaRPr sz="2200" b="1">
              <a:solidFill>
                <a:srgbClr val="D98E0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754880" y="265176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MHz ÷ 50 = 1 MSa/s</a:t>
            </a:r>
            <a:endParaRPr sz="15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输出单周期 sample_tick</a:t>
            </a:r>
            <a:endParaRPr sz="15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275320" y="1737360"/>
            <a:ext cx="3520440" cy="21488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275320" y="1737360"/>
            <a:ext cx="3520440" cy="82296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549640" y="2011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capture_engine</a:t>
            </a:r>
            <a:endParaRPr sz="22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549640" y="265176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五状态机 + 环形缓冲</a:t>
            </a:r>
            <a:endParaRPr sz="15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</a:pPr>
            <a:r>
              <a:rPr sz="15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触发定位与 done 握手</a:t>
            </a:r>
            <a:endParaRPr sz="15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731520" y="4343400"/>
            <a:ext cx="107899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sample_tick 是时钟使能而不是分频时钟，全设计只保留 sys_clk 一个时钟域。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每个样本打包为 {28 位时间戳, 4 位探针}，低 4 位可直接拆出 CH0~CH3。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环形缓冲与触发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触发点落在环中任意位置，靠 trigger_ptr 还原时间顺序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97380"/>
            <a:ext cx="6675119" cy="3337559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7452360" y="169164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2048 点环：写满回绕，始终保留最近数据。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trigger_ptr 记录触发时写指针位置。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软件：start = (trigger_ptr - 256) % 2048。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history_ok 保证预触发数据攒够才允许触发。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  <a:buNone/>
            </a:pPr>
            <a:r>
              <a:rPr sz="15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5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post_trigger = 0 时直接结束，不再补后触发。</a:t>
            </a:r>
            <a:endParaRPr sz="15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Notebook v2：七步流程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每一步输出带编号的状态信息，便于演示与排错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66928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676656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76656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 Overlay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76656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 bit/hwh 并加载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194560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2304288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2304288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配置参数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2304288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ctrl_idle = 0x81004000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822191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931920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3931920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单次采集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3931920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done=1 triggered=1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449824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559552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559552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读取还原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5559552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 samples = 513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077456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187184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7187184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绘制波形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7187184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waveform_4ch.png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8705088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8814815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814815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 CSV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814815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513 行 × 6 列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0332719" y="1783080"/>
            <a:ext cx="1481328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10442447" y="192024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2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0442447" y="2423160"/>
            <a:ext cx="12618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 10 次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0442447" y="2971800"/>
            <a:ext cx="12618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 10/10</a:t>
            </a:r>
            <a:endParaRPr sz="11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640080" y="4343400"/>
            <a:ext cx="10927080" cy="1417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关键实现</a:t>
            </a:r>
            <a:endParaRPr sz="17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write_ctrl() 兼容 write(value) 与 write(value, mask) 两种 PYNQ 接口；按 trigger_ptr 做 np.roll 还原；CSV 列为 index, timestamp, ch0~ch3。</a:t>
            </a:r>
            <a:endParaRPr sz="1300" b="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实测：连续 10 次采集全部 done=1、triggered=1，trigger_ptr 稳定在 256/257。</a:t>
            </a:r>
            <a:endParaRPr sz="1300" b="0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验证结果：时序、资源与 DRC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Vivado 2026.1 · xc7z020clg400-1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600200"/>
            <a:ext cx="3520440" cy="1417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1600200"/>
            <a:ext cx="54864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14400" y="1801368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10.552 ns</a:t>
            </a:r>
            <a:endParaRPr sz="30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914400" y="25146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最差建立余量 WNS（约束全部满足）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343400" y="1600200"/>
            <a:ext cx="3520440" cy="1417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343400" y="1600200"/>
            <a:ext cx="54864" cy="1417320"/>
          </a:xfrm>
          <a:prstGeom prst="rect">
            <a:avLst/>
          </a:prstGeom>
          <a:solidFill>
            <a:srgbClr val="D98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572000" y="1801368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D98E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Error</a:t>
            </a:r>
            <a:endParaRPr sz="3000" b="1">
              <a:solidFill>
                <a:srgbClr val="D98E0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72000" y="25146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DRC（20 条 REQP-1839 + 1 条 CHECK-3 告警）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001000" y="1600200"/>
            <a:ext cx="3520440" cy="1417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001000" y="1600200"/>
            <a:ext cx="54864" cy="14173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229600" y="1801368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3.55%</a:t>
            </a:r>
            <a:endParaRPr sz="30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229600" y="25146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Slice LUT 占用（1891 / 53200）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85800" y="3337560"/>
            <a:ext cx="10835640" cy="4114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68680" y="3410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保持余量 WHS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486400" y="3410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0.038 ns</a:t>
            </a:r>
            <a:endParaRPr sz="1300" b="1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85800" y="3794760"/>
            <a:ext cx="10835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868680" y="38679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脉宽余量 WPWS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486400" y="38679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9.020 ns</a:t>
            </a:r>
            <a:endParaRPr sz="1300" b="1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85800" y="4251960"/>
            <a:ext cx="10835640" cy="4114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68680" y="4325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Slice Registers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5486400" y="4325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2648（2.49%）</a:t>
            </a:r>
            <a:endParaRPr sz="1300" b="1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685800" y="4709160"/>
            <a:ext cx="10835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68680" y="4782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RAM Tile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5486400" y="4782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2（1.43%）</a:t>
            </a:r>
            <a:endParaRPr sz="1300" b="1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85800" y="5166360"/>
            <a:ext cx="10835640" cy="4114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868680" y="5239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DSP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486400" y="5239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300" b="1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685800" y="5623560"/>
            <a:ext cx="108356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868680" y="5696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设计状态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5486400" y="5696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Fully Routed</a:t>
            </a:r>
            <a:endParaRPr sz="1300" b="1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板级证据：队友B 独立复跑（TBD-010）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的 bit/hwh · PYNQ-Z2 · TEST_MODE=1 · 2026-10-19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50208"/>
            <a:ext cx="5486400" cy="637342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Overlay 加载成功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967" y="1554480"/>
            <a:ext cx="5076305" cy="1828800"/>
          </a:xfrm>
          <a:prstGeom prst="rect">
            <a:avLst/>
          </a:prstGeom>
        </p:spPr>
      </p:pic>
      <p:sp>
        <p:nvSpPr>
          <p:cNvPr id="8" name="TextBox 7"/>
          <p:cNvSpPr>
            <a:spLocks noGrp="1"/>
          </p:cNvSpPr>
          <p:nvPr/>
        </p:nvSpPr>
        <p:spPr>
          <a:xfrm>
            <a:off x="6355080" y="3429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 10 次采集 PASS 10/10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31520" y="3977639"/>
            <a:ext cx="107899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Overlay 加载成功，IP 列表：axi_gpio_0、axi_gpio_1、processing_system7_0。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单次采集：done=1、triggered=1、trigger_ptr=256，valid samples=513。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  <a:buNone/>
            </a:pPr>
            <a:r>
              <a:rPr sz="1600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600">
                <a:solidFill>
                  <a:srgbClr val="1B2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 513 行 6 列；连续 10 次全部完成，无超时。</a:t>
            </a:r>
            <a:endParaRPr sz="1600">
              <a:solidFill>
                <a:srgbClr val="1B2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测试汇总：TBD-002 ~ TBD-018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仿真边界测试 + 板级验证 + 独立重建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60020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1600200"/>
            <a:ext cx="64008" cy="9144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32688" y="17099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TBD-002 ~ 009</a:t>
            </a:r>
            <a:endParaRPr sz="1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3017520" y="17099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板级与重建 bit 验证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3017520" y="2075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Overlay、波形、CSV、连续 10 次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269748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85800" y="2697480"/>
            <a:ext cx="64008" cy="914400"/>
          </a:xfrm>
          <a:prstGeom prst="rect">
            <a:avLst/>
          </a:prstGeom>
          <a:solidFill>
            <a:srgbClr val="D98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932688" y="28072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D98E0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TBD-010</a:t>
            </a:r>
            <a:endParaRPr sz="1400" b="1">
              <a:solidFill>
                <a:srgbClr val="D98E0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017520" y="28072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队友B 独立复跑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017520" y="3172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的 bit/hwh，513 点，10/10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85800" y="379476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85800" y="3794760"/>
            <a:ext cx="64008" cy="9144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32688" y="39044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E7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TBD-011 ~ 016</a:t>
            </a:r>
            <a:endParaRPr sz="1400" b="1">
              <a:solidFill>
                <a:srgbClr val="0E7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3017520" y="39044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六项仿真边界测试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3017520" y="42702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三种触发、预后触发、回绕、clear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85800" y="489204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85800" y="4892040"/>
            <a:ext cx="64008" cy="9144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932688" y="50017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TBD-017 ~ 018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3017520" y="50017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发布候选与独立重建</a:t>
            </a:r>
            <a:endParaRPr sz="14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017520" y="5367527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smoke test、Tcl 重建一致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全部通过；证据位于 team/evidence/2026-10-19/。</a:t>
            </a:r>
            <a:endParaRPr sz="12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0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局限与改进方向</a:t>
            </a:r>
            <a:endParaRPr sz="30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范围冻结后的后续工作</a:t>
            </a:r>
            <a:endParaRPr sz="13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60020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60120" y="17373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采样率固定</a:t>
            </a:r>
            <a:endParaRPr sz="17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3840480" y="173736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分频比做成寄存器，支持 1 / 2 / 5 MSa/s 多档。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269748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960120" y="2834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深度受限</a:t>
            </a:r>
            <a:endParaRPr sz="17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3840480" y="283464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扩展多块 BRAM，或引入 DDR + DMA 支持长时采集。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85800" y="379476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960120" y="3931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时间戳回绕</a:t>
            </a:r>
            <a:endParaRPr sz="17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840480" y="393192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 位在 1 MSa/s 下约 268 秒，可扩位或分段记录。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85800" y="4892040"/>
            <a:ext cx="10835640" cy="914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60120" y="50292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>
                <a:solidFill>
                  <a:srgbClr val="0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外部输入未验证</a:t>
            </a:r>
            <a:endParaRPr sz="1700" b="1">
              <a:solidFill>
                <a:srgbClr val="0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3840480" y="502920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Pmod 电气特性与输入保护留作后续测试。</a:t>
            </a:r>
            <a:endParaRPr sz="14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PYNQ-Z2 四通道逻辑分析仪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5A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00" b="0">
              <a:solidFill>
                <a:srgbClr val="5A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914400" y="137160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可复现的交付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14400" y="2468880"/>
            <a:ext cx="10058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buNone/>
            </a:pPr>
            <a:r>
              <a:rPr sz="1700">
                <a:solidFill>
                  <a:srgbClr val="7F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700">
                <a:solidFill>
                  <a:srgbClr val="D7E6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仓库：github.com/lzx-316/pynq-z2-logic-analyzer</a:t>
            </a:r>
            <a:endParaRPr sz="1700">
              <a:solidFill>
                <a:srgbClr val="D7E6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400"/>
              </a:spcAft>
              <a:buNone/>
            </a:pPr>
            <a:r>
              <a:rPr sz="1700">
                <a:solidFill>
                  <a:srgbClr val="7F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700">
                <a:solidFill>
                  <a:srgbClr val="D7E6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 与 hwh 同名同目录，Notebook v2 七步跑完即可复现。</a:t>
            </a:r>
            <a:endParaRPr sz="1700">
              <a:solidFill>
                <a:srgbClr val="D7E6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400"/>
              </a:spcAft>
              <a:buNone/>
            </a:pPr>
            <a:r>
              <a:rPr sz="1700">
                <a:solidFill>
                  <a:srgbClr val="7F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700">
                <a:solidFill>
                  <a:srgbClr val="D7E6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证据：team/evidence/2026-10-19/（TBD-002 ~ TBD-018）</a:t>
            </a:r>
            <a:endParaRPr sz="1700">
              <a:solidFill>
                <a:srgbClr val="D7E6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400"/>
              </a:spcAft>
              <a:buNone/>
            </a:pPr>
            <a:r>
              <a:rPr sz="1700">
                <a:solidFill>
                  <a:srgbClr val="7F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700">
                <a:solidFill>
                  <a:srgbClr val="D7E6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报告：docs/report.md；模块讲解：docs/module_explanations.md</a:t>
            </a:r>
            <a:endParaRPr sz="1700">
              <a:solidFill>
                <a:srgbClr val="D7E6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14400" y="59436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0">
                <a:solidFill>
                  <a:srgbClr val="9FC7D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 · 欢迎提问</a:t>
            </a:r>
            <a:endParaRPr sz="1500" b="0">
              <a:solidFill>
                <a:srgbClr val="9FC7D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2764</Words>
  <Application>WPS 演示</Application>
  <PresentationFormat>Converted Presentation</PresentationFormat>
  <Paragraphs>293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沐浴yu</cp:lastModifiedBy>
  <cp:revision>1</cp:revision>
  <dcterms:created xsi:type="dcterms:W3CDTF">2026-10-24T11:17:46Z</dcterms:created>
  <dcterms:modified xsi:type="dcterms:W3CDTF">2026-10-24T11:17:46Z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04726F770C3F4B0C8C8CF68135FC6268_12</vt:lpwstr>
  </property>
</Properties>
</file>